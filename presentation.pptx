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TC Avant Garde Gothic" charset="1" panose="020B0502020202020204"/>
      <p:regular r:id="rId16"/>
    </p:embeddedFont>
    <p:embeddedFont>
      <p:font typeface="TT Fors" charset="1" panose="020B000303000102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we are presenting a machine learning mini project on fake news detection.</a:t>
            </a:r>
          </a:p>
          <a:p>
            <a:r>
              <a:rPr lang="en-US"/>
              <a:t>Fake news spreads extremely fast online and can influence politics, finance, and public behavior.</a:t>
            </a:r>
          </a:p>
          <a:p>
            <a:r>
              <a:rPr lang="en-US"/>
              <a:t>our goal here was to build a model that can automatically classify a news headline as real or fake based</a:t>
            </a:r>
          </a:p>
          <a:p>
            <a:r>
              <a:rPr lang="en-US"/>
              <a:t>only on text.</a:t>
            </a:r>
          </a:p>
          <a:p>
            <a:r>
              <a:rPr lang="en-US"/>
              <a:t>The project includes understanding the dataset, preprocessing the text, selecting and comparing</a:t>
            </a:r>
          </a:p>
          <a:p>
            <a:r>
              <a:rPr lang="en-US"/>
              <a:t>models, tuning hyperparameters, and finally generating predictions for a separate test file.</a:t>
            </a:r>
          </a:p>
          <a:p>
            <a:r>
              <a:rPr lang="en-US"/>
              <a:t>By the end, we reach a very strong 94.7% accuracy using a clean and efficient ML pipeline.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challenge lies in the nature of the data: headlines are short, often emotional, and sometimes</a:t>
            </a:r>
          </a:p>
          <a:p>
            <a:r>
              <a:rPr lang="en-US"/>
              <a:t>intentionally ambiguous.</a:t>
            </a:r>
          </a:p>
          <a:p>
            <a:r>
              <a:rPr lang="en-US"/>
              <a:t>Fake news writers purposely copy the writing style of real news to appear credible, so the model must</a:t>
            </a:r>
          </a:p>
          <a:p>
            <a:r>
              <a:rPr lang="en-US"/>
              <a:t>learn very subtle differences in language patterns.</a:t>
            </a:r>
          </a:p>
          <a:p>
            <a:r>
              <a:rPr lang="en-US"/>
              <a:t>The main task was to train a classifier using the provided training data and then predict unknown labels</a:t>
            </a:r>
          </a:p>
          <a:p>
            <a:r>
              <a:rPr lang="en-US"/>
              <a:t>in the test dataset.</a:t>
            </a:r>
          </a:p>
          <a:p>
            <a:r>
              <a:rPr lang="en-US"/>
              <a:t>A key requirement from the brief is maintaining the exact CSV structure when submitting predictions.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training dataset contains over 34k headlines, split evenly between real and fake. This balance is</a:t>
            </a:r>
          </a:p>
          <a:p>
            <a:r>
              <a:rPr lang="en-US"/>
              <a:t>important because models trained on imbalanced data can become biased.</a:t>
            </a:r>
          </a:p>
          <a:p>
            <a:r>
              <a:rPr lang="en-US"/>
              <a:t>The test dataset contains nearly 10k headlines, but all labels are marked as ‘2’, which actually means</a:t>
            </a:r>
          </a:p>
          <a:p>
            <a:r>
              <a:rPr lang="en-US"/>
              <a:t>‘unknown’. Our job is to replace these with 0 or 1 using the trained model.</a:t>
            </a:r>
          </a:p>
          <a:p>
            <a:r>
              <a:rPr lang="en-US"/>
              <a:t>Most headlines are short, usually under 12 words, which means we need features that work well for</a:t>
            </a:r>
          </a:p>
          <a:p>
            <a:r>
              <a:rPr lang="en-US"/>
              <a:t>compact text. We also see that political language dominates — Trump, government, decisions,</a:t>
            </a:r>
          </a:p>
          <a:p>
            <a:r>
              <a:rPr lang="en-US"/>
              <a:t>scandals — which helps the model learn domain-specific patterns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26" r="0" b="-1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3474" y="475659"/>
            <a:ext cx="9763125" cy="3682999"/>
            <a:chOff x="0" y="0"/>
            <a:chExt cx="13017500" cy="49106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184275"/>
              <a:ext cx="13017500" cy="3726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299">
                  <a:solidFill>
                    <a:srgbClr val="64FFD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FAKE</a:t>
              </a:r>
              <a:r>
                <a:rPr lang="en-US" sz="9999" spc="-299">
                  <a:solidFill>
                    <a:srgbClr val="64FFD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NEWS CLASSIFIER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04775"/>
              <a:ext cx="130175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64FFD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IRONHACK · 2025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3474" y="8380095"/>
            <a:ext cx="7257761" cy="87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64FFDA"/>
                </a:solidFill>
                <a:latin typeface="TT Fors"/>
                <a:ea typeface="TT Fors"/>
                <a:cs typeface="TT Fors"/>
                <a:sym typeface="TT Fors"/>
              </a:rPr>
              <a:t>Presented by </a:t>
            </a:r>
          </a:p>
          <a:p>
            <a:pPr algn="l" marL="0" indent="0" lvl="0">
              <a:lnSpc>
                <a:spcPts val="3500"/>
              </a:lnSpc>
            </a:pPr>
            <a:r>
              <a:rPr lang="en-US" sz="2500">
                <a:solidFill>
                  <a:srgbClr val="64FFDA"/>
                </a:solidFill>
                <a:latin typeface="TT Fors"/>
                <a:ea typeface="TT Fors"/>
                <a:cs typeface="TT Fors"/>
                <a:sym typeface="TT Fors"/>
              </a:rPr>
              <a:t>Diogo Simoes, Keberth Rodriguez &amp; Javier Garcia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6318858"/>
            <a:chOff x="0" y="0"/>
            <a:chExt cx="14935200" cy="84251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64FFD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Intro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962864"/>
              <a:ext cx="110998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35200"/>
              <a:ext cx="13017500" cy="5181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0879" indent="-345439" lvl="1">
                <a:lnSpc>
                  <a:spcPts val="3839"/>
                </a:lnSpc>
                <a:buFont typeface="Arial"/>
                <a:buChar char="•"/>
              </a:pPr>
              <a:r>
                <a:rPr lang="en-US" sz="3199" spc="-95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A Machine Lea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ning Appro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ac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h to Detect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ing 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Real vs Fake News</a:t>
              </a:r>
            </a:p>
            <a:p>
              <a:pPr algn="l" marL="690879" indent="-345439" lvl="1">
                <a:lnSpc>
                  <a:spcPts val="3839"/>
                </a:lnSpc>
                <a:buFont typeface="Arial"/>
                <a:buChar char="•"/>
              </a:pP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Your Name · 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ro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hack · 2025</a:t>
              </a:r>
            </a:p>
            <a:p>
              <a:pPr algn="l" marL="690879" indent="-345439" lvl="1">
                <a:lnSpc>
                  <a:spcPts val="3839"/>
                </a:lnSpc>
                <a:buFont typeface="Arial"/>
                <a:buChar char="•"/>
              </a:pP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Fake 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ews influences electi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ns and public opinion.</a:t>
              </a:r>
            </a:p>
            <a:p>
              <a:pPr algn="l" marL="690879" indent="-345439" lvl="1">
                <a:lnSpc>
                  <a:spcPts val="3839"/>
                </a:lnSpc>
                <a:buFont typeface="Arial"/>
                <a:buChar char="•"/>
              </a:pP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Go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l: Build a model 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hat class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fies news headli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es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as real 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r fake.</a:t>
              </a:r>
            </a:p>
            <a:p>
              <a:pPr algn="l" marL="690879" indent="-345439" lvl="1">
                <a:lnSpc>
                  <a:spcPts val="3839"/>
                </a:lnSpc>
                <a:buFont typeface="Arial"/>
                <a:buChar char="•"/>
              </a:pP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Achieve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 high 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ccurac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y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 using classical ML techniques.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-3550833">
            <a:off x="14451911" y="6083866"/>
            <a:ext cx="5545500" cy="712916"/>
            <a:chOff x="0" y="0"/>
            <a:chExt cx="617254" cy="793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7254" cy="79353"/>
            </a:xfrm>
            <a:custGeom>
              <a:avLst/>
              <a:gdLst/>
              <a:ahLst/>
              <a:cxnLst/>
              <a:rect r="r" b="b" t="t" l="l"/>
              <a:pathLst>
                <a:path h="79353" w="617254">
                  <a:moveTo>
                    <a:pt x="0" y="0"/>
                  </a:moveTo>
                  <a:lnTo>
                    <a:pt x="617254" y="0"/>
                  </a:lnTo>
                  <a:lnTo>
                    <a:pt x="617254" y="79353"/>
                  </a:lnTo>
                  <a:lnTo>
                    <a:pt x="0" y="79353"/>
                  </a:lnTo>
                  <a:close/>
                </a:path>
              </a:pathLst>
            </a:custGeom>
            <a:solidFill>
              <a:srgbClr val="64FFD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17254" cy="117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127" y="8502367"/>
            <a:ext cx="18288000" cy="2504976"/>
            <a:chOff x="0" y="0"/>
            <a:chExt cx="2035585" cy="2788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35585" cy="278822"/>
            </a:xfrm>
            <a:custGeom>
              <a:avLst/>
              <a:gdLst/>
              <a:ahLst/>
              <a:cxnLst/>
              <a:rect r="r" b="b" t="t" l="l"/>
              <a:pathLst>
                <a:path h="278822" w="2035585">
                  <a:moveTo>
                    <a:pt x="0" y="0"/>
                  </a:moveTo>
                  <a:lnTo>
                    <a:pt x="2035585" y="0"/>
                  </a:lnTo>
                  <a:lnTo>
                    <a:pt x="2035585" y="278822"/>
                  </a:lnTo>
                  <a:lnTo>
                    <a:pt x="0" y="278822"/>
                  </a:lnTo>
                  <a:close/>
                </a:path>
              </a:pathLst>
            </a:custGeom>
            <a:solidFill>
              <a:srgbClr val="64FFD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35585" cy="31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3550833">
            <a:off x="9990962" y="4132787"/>
            <a:ext cx="13164261" cy="2688210"/>
            <a:chOff x="0" y="0"/>
            <a:chExt cx="1465276" cy="29921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5276" cy="299217"/>
            </a:xfrm>
            <a:custGeom>
              <a:avLst/>
              <a:gdLst/>
              <a:ahLst/>
              <a:cxnLst/>
              <a:rect r="r" b="b" t="t" l="l"/>
              <a:pathLst>
                <a:path h="299217" w="1465276">
                  <a:moveTo>
                    <a:pt x="0" y="0"/>
                  </a:moveTo>
                  <a:lnTo>
                    <a:pt x="1465276" y="0"/>
                  </a:lnTo>
                  <a:lnTo>
                    <a:pt x="1465276" y="299217"/>
                  </a:lnTo>
                  <a:lnTo>
                    <a:pt x="0" y="299217"/>
                  </a:lnTo>
                  <a:close/>
                </a:path>
              </a:pathLst>
            </a:custGeom>
            <a:solidFill>
              <a:srgbClr val="061D4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65276" cy="337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8555127"/>
            <a:ext cx="18288000" cy="2504976"/>
            <a:chOff x="0" y="0"/>
            <a:chExt cx="2035585" cy="2788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35585" cy="278822"/>
            </a:xfrm>
            <a:custGeom>
              <a:avLst/>
              <a:gdLst/>
              <a:ahLst/>
              <a:cxnLst/>
              <a:rect r="r" b="b" t="t" l="l"/>
              <a:pathLst>
                <a:path h="278822" w="2035585">
                  <a:moveTo>
                    <a:pt x="0" y="0"/>
                  </a:moveTo>
                  <a:lnTo>
                    <a:pt x="2035585" y="0"/>
                  </a:lnTo>
                  <a:lnTo>
                    <a:pt x="2035585" y="278822"/>
                  </a:lnTo>
                  <a:lnTo>
                    <a:pt x="0" y="278822"/>
                  </a:lnTo>
                  <a:close/>
                </a:path>
              </a:pathLst>
            </a:custGeom>
            <a:solidFill>
              <a:srgbClr val="061D4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35585" cy="31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8100000">
            <a:off x="-1805321" y="7844416"/>
            <a:ext cx="3238136" cy="1762223"/>
            <a:chOff x="0" y="0"/>
            <a:chExt cx="360428" cy="1961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0428" cy="196148"/>
            </a:xfrm>
            <a:custGeom>
              <a:avLst/>
              <a:gdLst/>
              <a:ahLst/>
              <a:cxnLst/>
              <a:rect r="r" b="b" t="t" l="l"/>
              <a:pathLst>
                <a:path h="196148" w="360428">
                  <a:moveTo>
                    <a:pt x="0" y="0"/>
                  </a:moveTo>
                  <a:lnTo>
                    <a:pt x="360428" y="0"/>
                  </a:lnTo>
                  <a:lnTo>
                    <a:pt x="360428" y="196148"/>
                  </a:lnTo>
                  <a:lnTo>
                    <a:pt x="0" y="196148"/>
                  </a:lnTo>
                  <a:close/>
                </a:path>
              </a:pathLst>
            </a:custGeom>
            <a:solidFill>
              <a:srgbClr val="061D4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60428" cy="234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5038725"/>
            <a:ext cx="4010025" cy="138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8"/>
              </a:lnSpc>
              <a:spcBef>
                <a:spcPct val="0"/>
              </a:spcBef>
            </a:pPr>
            <a:r>
              <a:rPr lang="en-US" sz="2535" spc="-76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Dis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ti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ngu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sh between re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al 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 fak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news us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g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short h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adli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ne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19850" y="5038725"/>
            <a:ext cx="4010025" cy="935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8"/>
              </a:lnSpc>
              <a:spcBef>
                <a:spcPct val="0"/>
              </a:spcBef>
            </a:pPr>
            <a:r>
              <a:rPr lang="en-US" sz="2535" spc="-76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Headlines are emotional, political, and ambiguous.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657225"/>
            <a:ext cx="1120140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Proble</a:t>
            </a:r>
            <a:r>
              <a:rPr lang="en-US" sz="8000" spc="-240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</a:t>
            </a:r>
            <a:r>
              <a:rPr lang="en-US" sz="8000" spc="-240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D</a:t>
            </a:r>
            <a:r>
              <a:rPr lang="en-US" sz="8000" spc="-240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</a:t>
            </a:r>
            <a:r>
              <a:rPr lang="en-US" sz="8000" spc="-240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</a:t>
            </a:r>
            <a:r>
              <a:rPr lang="en-US" sz="8000" spc="-240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</a:t>
            </a:r>
            <a:r>
              <a:rPr lang="en-US" sz="8000" spc="-240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it</a:t>
            </a:r>
            <a:r>
              <a:rPr lang="en-US" sz="8000" spc="-240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io</a:t>
            </a:r>
            <a:r>
              <a:rPr lang="en-US" sz="8000" spc="-240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</a:t>
            </a:r>
          </a:p>
        </p:txBody>
      </p:sp>
      <p:grpSp>
        <p:nvGrpSpPr>
          <p:cNvPr name="Group 5" id="5"/>
          <p:cNvGrpSpPr/>
          <p:nvPr/>
        </p:nvGrpSpPr>
        <p:grpSpPr>
          <a:xfrm rot="-3550833">
            <a:off x="14451911" y="6083866"/>
            <a:ext cx="5545500" cy="712916"/>
            <a:chOff x="0" y="0"/>
            <a:chExt cx="617254" cy="793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7254" cy="79353"/>
            </a:xfrm>
            <a:custGeom>
              <a:avLst/>
              <a:gdLst/>
              <a:ahLst/>
              <a:cxnLst/>
              <a:rect r="r" b="b" t="t" l="l"/>
              <a:pathLst>
                <a:path h="79353" w="617254">
                  <a:moveTo>
                    <a:pt x="0" y="0"/>
                  </a:moveTo>
                  <a:lnTo>
                    <a:pt x="617254" y="0"/>
                  </a:lnTo>
                  <a:lnTo>
                    <a:pt x="617254" y="79353"/>
                  </a:lnTo>
                  <a:lnTo>
                    <a:pt x="0" y="79353"/>
                  </a:lnTo>
                  <a:close/>
                </a:path>
              </a:pathLst>
            </a:custGeom>
            <a:solidFill>
              <a:srgbClr val="64FFD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17254" cy="117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4127" y="8502367"/>
            <a:ext cx="18288000" cy="2504976"/>
            <a:chOff x="0" y="0"/>
            <a:chExt cx="2035585" cy="2788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5585" cy="278822"/>
            </a:xfrm>
            <a:custGeom>
              <a:avLst/>
              <a:gdLst/>
              <a:ahLst/>
              <a:cxnLst/>
              <a:rect r="r" b="b" t="t" l="l"/>
              <a:pathLst>
                <a:path h="278822" w="2035585">
                  <a:moveTo>
                    <a:pt x="0" y="0"/>
                  </a:moveTo>
                  <a:lnTo>
                    <a:pt x="2035585" y="0"/>
                  </a:lnTo>
                  <a:lnTo>
                    <a:pt x="2035585" y="278822"/>
                  </a:lnTo>
                  <a:lnTo>
                    <a:pt x="0" y="278822"/>
                  </a:lnTo>
                  <a:close/>
                </a:path>
              </a:pathLst>
            </a:custGeom>
            <a:solidFill>
              <a:srgbClr val="64FFD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35585" cy="31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3550833">
            <a:off x="9990962" y="4132787"/>
            <a:ext cx="13164261" cy="2688210"/>
            <a:chOff x="0" y="0"/>
            <a:chExt cx="1465276" cy="2992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5276" cy="299217"/>
            </a:xfrm>
            <a:custGeom>
              <a:avLst/>
              <a:gdLst/>
              <a:ahLst/>
              <a:cxnLst/>
              <a:rect r="r" b="b" t="t" l="l"/>
              <a:pathLst>
                <a:path h="299217" w="1465276">
                  <a:moveTo>
                    <a:pt x="0" y="0"/>
                  </a:moveTo>
                  <a:lnTo>
                    <a:pt x="1465276" y="0"/>
                  </a:lnTo>
                  <a:lnTo>
                    <a:pt x="1465276" y="299217"/>
                  </a:lnTo>
                  <a:lnTo>
                    <a:pt x="0" y="299217"/>
                  </a:lnTo>
                  <a:close/>
                </a:path>
              </a:pathLst>
            </a:custGeom>
            <a:solidFill>
              <a:srgbClr val="061D4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5276" cy="337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172950" y="5038725"/>
            <a:ext cx="4010025" cy="138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8"/>
              </a:lnSpc>
              <a:spcBef>
                <a:spcPct val="0"/>
              </a:spcBef>
            </a:pPr>
            <a:r>
              <a:rPr lang="en-US" sz="2535" spc="-76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Output: predicti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ns for testing.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sv 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 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rrect f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</a:t>
            </a:r>
            <a:r>
              <a:rPr lang="en-US" sz="2535" spc="-76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rmat.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0" y="8555127"/>
            <a:ext cx="18288000" cy="2504976"/>
            <a:chOff x="0" y="0"/>
            <a:chExt cx="2035585" cy="2788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35585" cy="278822"/>
            </a:xfrm>
            <a:custGeom>
              <a:avLst/>
              <a:gdLst/>
              <a:ahLst/>
              <a:cxnLst/>
              <a:rect r="r" b="b" t="t" l="l"/>
              <a:pathLst>
                <a:path h="278822" w="2035585">
                  <a:moveTo>
                    <a:pt x="0" y="0"/>
                  </a:moveTo>
                  <a:lnTo>
                    <a:pt x="2035585" y="0"/>
                  </a:lnTo>
                  <a:lnTo>
                    <a:pt x="2035585" y="278822"/>
                  </a:lnTo>
                  <a:lnTo>
                    <a:pt x="0" y="278822"/>
                  </a:lnTo>
                  <a:close/>
                </a:path>
              </a:pathLst>
            </a:custGeom>
            <a:solidFill>
              <a:srgbClr val="061D4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35585" cy="31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8100000">
            <a:off x="-1805321" y="7844416"/>
            <a:ext cx="3238136" cy="1762223"/>
            <a:chOff x="0" y="0"/>
            <a:chExt cx="360428" cy="1961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0428" cy="196148"/>
            </a:xfrm>
            <a:custGeom>
              <a:avLst/>
              <a:gdLst/>
              <a:ahLst/>
              <a:cxnLst/>
              <a:rect r="r" b="b" t="t" l="l"/>
              <a:pathLst>
                <a:path h="196148" w="360428">
                  <a:moveTo>
                    <a:pt x="0" y="0"/>
                  </a:moveTo>
                  <a:lnTo>
                    <a:pt x="360428" y="0"/>
                  </a:lnTo>
                  <a:lnTo>
                    <a:pt x="360428" y="196148"/>
                  </a:lnTo>
                  <a:lnTo>
                    <a:pt x="0" y="196148"/>
                  </a:lnTo>
                  <a:close/>
                </a:path>
              </a:pathLst>
            </a:custGeom>
            <a:solidFill>
              <a:srgbClr val="061D4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60428" cy="234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5562600"/>
            <a:chOff x="0" y="0"/>
            <a:chExt cx="14935200" cy="74168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64FFD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Dataset Overview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235200"/>
              <a:ext cx="13017500" cy="5181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0879" indent="-345439" lvl="1">
                <a:lnSpc>
                  <a:spcPts val="3839"/>
                </a:lnSpc>
                <a:buFont typeface="Arial"/>
                <a:buChar char="•"/>
              </a:pPr>
              <a:r>
                <a:rPr lang="en-US" sz="3199" spc="-95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 34,152 labeled h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ea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dl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in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es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(0=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f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ake, 1=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eal).</a:t>
              </a:r>
            </a:p>
            <a:p>
              <a:pPr algn="l">
                <a:lnSpc>
                  <a:spcPts val="3839"/>
                </a:lnSpc>
              </a:pPr>
            </a:p>
            <a:p>
              <a:pPr algn="l">
                <a:lnSpc>
                  <a:spcPts val="3839"/>
                </a:lnSpc>
              </a:pPr>
            </a:p>
            <a:p>
              <a:pPr algn="l" marL="690879" indent="-345439" lvl="1">
                <a:lnSpc>
                  <a:spcPts val="3839"/>
                </a:lnSpc>
                <a:buFont typeface="Arial"/>
                <a:buChar char="•"/>
              </a:pP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9,984 test headlines (label 2 = unkn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wn).</a:t>
              </a:r>
            </a:p>
            <a:p>
              <a:pPr algn="l">
                <a:lnSpc>
                  <a:spcPts val="3839"/>
                </a:lnSpc>
              </a:pPr>
            </a:p>
            <a:p>
              <a:pPr algn="l">
                <a:lnSpc>
                  <a:spcPts val="3839"/>
                </a:lnSpc>
              </a:pPr>
            </a:p>
            <a:p>
              <a:pPr algn="l" marL="690879" indent="-345439" lvl="1">
                <a:lnSpc>
                  <a:spcPts val="3839"/>
                </a:lnSpc>
                <a:buFont typeface="Arial"/>
                <a:buChar char="•"/>
              </a:pP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Balanced classes and sh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or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t, p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199" spc="-95" strike="noStrike" u="none">
                  <a:solidFill>
                    <a:srgbClr val="64FFDA"/>
                  </a:solidFill>
                  <a:latin typeface="TT Fors"/>
                  <a:ea typeface="TT Fors"/>
                  <a:cs typeface="TT Fors"/>
                  <a:sym typeface="TT Fors"/>
                </a:rPr>
                <a:t>litical text.</a:t>
              </a:r>
            </a:p>
            <a:p>
              <a:pPr algn="l">
                <a:lnSpc>
                  <a:spcPts val="38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3550833">
            <a:off x="14451911" y="6083866"/>
            <a:ext cx="5545500" cy="712916"/>
            <a:chOff x="0" y="0"/>
            <a:chExt cx="617254" cy="793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7254" cy="79353"/>
            </a:xfrm>
            <a:custGeom>
              <a:avLst/>
              <a:gdLst/>
              <a:ahLst/>
              <a:cxnLst/>
              <a:rect r="r" b="b" t="t" l="l"/>
              <a:pathLst>
                <a:path h="79353" w="617254">
                  <a:moveTo>
                    <a:pt x="0" y="0"/>
                  </a:moveTo>
                  <a:lnTo>
                    <a:pt x="617254" y="0"/>
                  </a:lnTo>
                  <a:lnTo>
                    <a:pt x="617254" y="79353"/>
                  </a:lnTo>
                  <a:lnTo>
                    <a:pt x="0" y="79353"/>
                  </a:lnTo>
                  <a:close/>
                </a:path>
              </a:pathLst>
            </a:custGeom>
            <a:solidFill>
              <a:srgbClr val="64FFD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17254" cy="117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4127" y="8502367"/>
            <a:ext cx="18288000" cy="2504976"/>
            <a:chOff x="0" y="0"/>
            <a:chExt cx="2035585" cy="2788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5585" cy="278822"/>
            </a:xfrm>
            <a:custGeom>
              <a:avLst/>
              <a:gdLst/>
              <a:ahLst/>
              <a:cxnLst/>
              <a:rect r="r" b="b" t="t" l="l"/>
              <a:pathLst>
                <a:path h="278822" w="2035585">
                  <a:moveTo>
                    <a:pt x="0" y="0"/>
                  </a:moveTo>
                  <a:lnTo>
                    <a:pt x="2035585" y="0"/>
                  </a:lnTo>
                  <a:lnTo>
                    <a:pt x="2035585" y="278822"/>
                  </a:lnTo>
                  <a:lnTo>
                    <a:pt x="0" y="278822"/>
                  </a:lnTo>
                  <a:close/>
                </a:path>
              </a:pathLst>
            </a:custGeom>
            <a:solidFill>
              <a:srgbClr val="64FFD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35585" cy="31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3550833">
            <a:off x="9990962" y="4132787"/>
            <a:ext cx="13164261" cy="2688210"/>
            <a:chOff x="0" y="0"/>
            <a:chExt cx="1465276" cy="2992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5276" cy="299217"/>
            </a:xfrm>
            <a:custGeom>
              <a:avLst/>
              <a:gdLst/>
              <a:ahLst/>
              <a:cxnLst/>
              <a:rect r="r" b="b" t="t" l="l"/>
              <a:pathLst>
                <a:path h="299217" w="1465276">
                  <a:moveTo>
                    <a:pt x="0" y="0"/>
                  </a:moveTo>
                  <a:lnTo>
                    <a:pt x="1465276" y="0"/>
                  </a:lnTo>
                  <a:lnTo>
                    <a:pt x="1465276" y="299217"/>
                  </a:lnTo>
                  <a:lnTo>
                    <a:pt x="0" y="299217"/>
                  </a:lnTo>
                  <a:close/>
                </a:path>
              </a:pathLst>
            </a:custGeom>
            <a:solidFill>
              <a:srgbClr val="061D4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5276" cy="337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8555127"/>
            <a:ext cx="18288000" cy="2504976"/>
            <a:chOff x="0" y="0"/>
            <a:chExt cx="2035585" cy="2788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35585" cy="278822"/>
            </a:xfrm>
            <a:custGeom>
              <a:avLst/>
              <a:gdLst/>
              <a:ahLst/>
              <a:cxnLst/>
              <a:rect r="r" b="b" t="t" l="l"/>
              <a:pathLst>
                <a:path h="278822" w="2035585">
                  <a:moveTo>
                    <a:pt x="0" y="0"/>
                  </a:moveTo>
                  <a:lnTo>
                    <a:pt x="2035585" y="0"/>
                  </a:lnTo>
                  <a:lnTo>
                    <a:pt x="2035585" y="278822"/>
                  </a:lnTo>
                  <a:lnTo>
                    <a:pt x="0" y="278822"/>
                  </a:lnTo>
                  <a:close/>
                </a:path>
              </a:pathLst>
            </a:custGeom>
            <a:solidFill>
              <a:srgbClr val="061D4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35585" cy="31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8100000">
            <a:off x="-1805321" y="7844416"/>
            <a:ext cx="3238136" cy="1762223"/>
            <a:chOff x="0" y="0"/>
            <a:chExt cx="360428" cy="1961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0428" cy="196148"/>
            </a:xfrm>
            <a:custGeom>
              <a:avLst/>
              <a:gdLst/>
              <a:ahLst/>
              <a:cxnLst/>
              <a:rect r="r" b="b" t="t" l="l"/>
              <a:pathLst>
                <a:path h="196148" w="360428">
                  <a:moveTo>
                    <a:pt x="0" y="0"/>
                  </a:moveTo>
                  <a:lnTo>
                    <a:pt x="360428" y="0"/>
                  </a:lnTo>
                  <a:lnTo>
                    <a:pt x="360428" y="196148"/>
                  </a:lnTo>
                  <a:lnTo>
                    <a:pt x="0" y="196148"/>
                  </a:lnTo>
                  <a:close/>
                </a:path>
              </a:pathLst>
            </a:custGeom>
            <a:solidFill>
              <a:srgbClr val="061D4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60428" cy="234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120140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Preprocessing Pip</a:t>
            </a:r>
            <a:r>
              <a:rPr lang="en-US" sz="8000" spc="-240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eline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3219423"/>
            <a:ext cx="8324850" cy="331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64FFDA"/>
                </a:solidFill>
                <a:latin typeface="TT Fors"/>
                <a:ea typeface="TT Fors"/>
                <a:cs typeface="TT Fors"/>
                <a:sym typeface="TT Fors"/>
              </a:rPr>
              <a:t>Lowercasing and tokenization.</a:t>
            </a:r>
          </a:p>
          <a:p>
            <a:pPr algn="l">
              <a:lnSpc>
                <a:spcPts val="3779"/>
              </a:lnSpc>
            </a:pPr>
          </a:p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64FFDA"/>
                </a:solidFill>
                <a:latin typeface="TT Fors"/>
                <a:ea typeface="TT Fors"/>
                <a:cs typeface="TT Fors"/>
                <a:sym typeface="TT Fors"/>
              </a:rPr>
              <a:t>Removing punctuation and English stopwords.</a:t>
            </a:r>
          </a:p>
          <a:p>
            <a:pPr algn="l">
              <a:lnSpc>
                <a:spcPts val="3779"/>
              </a:lnSpc>
            </a:pPr>
          </a:p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64FFDA"/>
                </a:solidFill>
                <a:latin typeface="TT Fors"/>
                <a:ea typeface="TT Fors"/>
                <a:cs typeface="TT Fors"/>
                <a:sym typeface="TT Fors"/>
              </a:rPr>
              <a:t>TF-IDF vectorization with 1–2 grams.</a:t>
            </a:r>
          </a:p>
          <a:p>
            <a:pPr algn="l">
              <a:lnSpc>
                <a:spcPts val="3779"/>
              </a:lnSpc>
            </a:pPr>
          </a:p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64FFDA"/>
                </a:solidFill>
                <a:latin typeface="TT Fors"/>
                <a:ea typeface="TT Fors"/>
                <a:cs typeface="TT Fors"/>
                <a:sym typeface="TT Fors"/>
              </a:rPr>
              <a:t>Lemmatization was tested but optional.</a:t>
            </a:r>
          </a:p>
        </p:txBody>
      </p:sp>
      <p:grpSp>
        <p:nvGrpSpPr>
          <p:cNvPr name="Group 4" id="4"/>
          <p:cNvGrpSpPr/>
          <p:nvPr/>
        </p:nvGrpSpPr>
        <p:grpSpPr>
          <a:xfrm rot="-3550833">
            <a:off x="14451911" y="6083866"/>
            <a:ext cx="5545500" cy="712916"/>
            <a:chOff x="0" y="0"/>
            <a:chExt cx="617254" cy="793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7254" cy="79353"/>
            </a:xfrm>
            <a:custGeom>
              <a:avLst/>
              <a:gdLst/>
              <a:ahLst/>
              <a:cxnLst/>
              <a:rect r="r" b="b" t="t" l="l"/>
              <a:pathLst>
                <a:path h="79353" w="617254">
                  <a:moveTo>
                    <a:pt x="0" y="0"/>
                  </a:moveTo>
                  <a:lnTo>
                    <a:pt x="617254" y="0"/>
                  </a:lnTo>
                  <a:lnTo>
                    <a:pt x="617254" y="79353"/>
                  </a:lnTo>
                  <a:lnTo>
                    <a:pt x="0" y="79353"/>
                  </a:lnTo>
                  <a:close/>
                </a:path>
              </a:pathLst>
            </a:custGeom>
            <a:solidFill>
              <a:srgbClr val="64FFD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17254" cy="117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4127" y="8502367"/>
            <a:ext cx="18288000" cy="2504976"/>
            <a:chOff x="0" y="0"/>
            <a:chExt cx="2035585" cy="2788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5585" cy="278822"/>
            </a:xfrm>
            <a:custGeom>
              <a:avLst/>
              <a:gdLst/>
              <a:ahLst/>
              <a:cxnLst/>
              <a:rect r="r" b="b" t="t" l="l"/>
              <a:pathLst>
                <a:path h="278822" w="2035585">
                  <a:moveTo>
                    <a:pt x="0" y="0"/>
                  </a:moveTo>
                  <a:lnTo>
                    <a:pt x="2035585" y="0"/>
                  </a:lnTo>
                  <a:lnTo>
                    <a:pt x="2035585" y="278822"/>
                  </a:lnTo>
                  <a:lnTo>
                    <a:pt x="0" y="278822"/>
                  </a:lnTo>
                  <a:close/>
                </a:path>
              </a:pathLst>
            </a:custGeom>
            <a:solidFill>
              <a:srgbClr val="64FFD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35585" cy="31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3550833">
            <a:off x="9990962" y="4132787"/>
            <a:ext cx="13164261" cy="2688210"/>
            <a:chOff x="0" y="0"/>
            <a:chExt cx="1465276" cy="2992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5276" cy="299217"/>
            </a:xfrm>
            <a:custGeom>
              <a:avLst/>
              <a:gdLst/>
              <a:ahLst/>
              <a:cxnLst/>
              <a:rect r="r" b="b" t="t" l="l"/>
              <a:pathLst>
                <a:path h="299217" w="1465276">
                  <a:moveTo>
                    <a:pt x="0" y="0"/>
                  </a:moveTo>
                  <a:lnTo>
                    <a:pt x="1465276" y="0"/>
                  </a:lnTo>
                  <a:lnTo>
                    <a:pt x="1465276" y="299217"/>
                  </a:lnTo>
                  <a:lnTo>
                    <a:pt x="0" y="299217"/>
                  </a:lnTo>
                  <a:close/>
                </a:path>
              </a:pathLst>
            </a:custGeom>
            <a:solidFill>
              <a:srgbClr val="061D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65276" cy="337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8555127"/>
            <a:ext cx="18288000" cy="2504976"/>
            <a:chOff x="0" y="0"/>
            <a:chExt cx="2035585" cy="2788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35585" cy="278822"/>
            </a:xfrm>
            <a:custGeom>
              <a:avLst/>
              <a:gdLst/>
              <a:ahLst/>
              <a:cxnLst/>
              <a:rect r="r" b="b" t="t" l="l"/>
              <a:pathLst>
                <a:path h="278822" w="2035585">
                  <a:moveTo>
                    <a:pt x="0" y="0"/>
                  </a:moveTo>
                  <a:lnTo>
                    <a:pt x="2035585" y="0"/>
                  </a:lnTo>
                  <a:lnTo>
                    <a:pt x="2035585" y="278822"/>
                  </a:lnTo>
                  <a:lnTo>
                    <a:pt x="0" y="278822"/>
                  </a:lnTo>
                  <a:close/>
                </a:path>
              </a:pathLst>
            </a:custGeom>
            <a:solidFill>
              <a:srgbClr val="061D4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35585" cy="31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8100000">
            <a:off x="-1805321" y="7844416"/>
            <a:ext cx="3238136" cy="1762223"/>
            <a:chOff x="0" y="0"/>
            <a:chExt cx="360428" cy="1961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0428" cy="196148"/>
            </a:xfrm>
            <a:custGeom>
              <a:avLst/>
              <a:gdLst/>
              <a:ahLst/>
              <a:cxnLst/>
              <a:rect r="r" b="b" t="t" l="l"/>
              <a:pathLst>
                <a:path h="196148" w="360428">
                  <a:moveTo>
                    <a:pt x="0" y="0"/>
                  </a:moveTo>
                  <a:lnTo>
                    <a:pt x="360428" y="0"/>
                  </a:lnTo>
                  <a:lnTo>
                    <a:pt x="360428" y="196148"/>
                  </a:lnTo>
                  <a:lnTo>
                    <a:pt x="0" y="196148"/>
                  </a:lnTo>
                  <a:close/>
                </a:path>
              </a:pathLst>
            </a:custGeom>
            <a:solidFill>
              <a:srgbClr val="061D4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60428" cy="234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120140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Fea</a:t>
            </a:r>
            <a:r>
              <a:rPr lang="en-US" sz="8000" spc="-240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tur</a:t>
            </a:r>
            <a:r>
              <a:rPr lang="en-US" sz="8000" spc="-240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</a:t>
            </a:r>
            <a:r>
              <a:rPr lang="en-US" sz="8000" spc="-240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Engin</a:t>
            </a:r>
            <a:r>
              <a:rPr lang="en-US" sz="8000" spc="-240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eer</a:t>
            </a:r>
            <a:r>
              <a:rPr lang="en-US" sz="8000" spc="-240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3209898"/>
            <a:ext cx="9519168" cy="444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64FFDA"/>
                </a:solidFill>
                <a:latin typeface="TT Fors"/>
                <a:ea typeface="TT Fors"/>
                <a:cs typeface="TT Fors"/>
                <a:sym typeface="TT Fors"/>
              </a:rPr>
              <a:t>TF-IDF chosen as main representation.</a:t>
            </a:r>
          </a:p>
          <a:p>
            <a:pPr algn="l">
              <a:lnSpc>
                <a:spcPts val="3919"/>
              </a:lnSpc>
            </a:pP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64FFDA"/>
                </a:solidFill>
                <a:latin typeface="TT Fors"/>
                <a:ea typeface="TT Fors"/>
                <a:cs typeface="TT Fors"/>
                <a:sym typeface="TT Fors"/>
              </a:rPr>
              <a:t>ngram_range = (1,</a:t>
            </a:r>
            <a:r>
              <a:rPr lang="en-US" sz="2799">
                <a:solidFill>
                  <a:srgbClr val="64FFDA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799">
                <a:solidFill>
                  <a:srgbClr val="64FFDA"/>
                </a:solidFill>
                <a:latin typeface="TT Fors"/>
                <a:ea typeface="TT Fors"/>
                <a:cs typeface="TT Fors"/>
                <a:sym typeface="TT Fors"/>
              </a:rPr>
              <a:t>2), max_df = 0.90, min_df = 5.</a:t>
            </a:r>
          </a:p>
          <a:p>
            <a:pPr algn="l">
              <a:lnSpc>
                <a:spcPts val="3919"/>
              </a:lnSpc>
            </a:pP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64FFDA"/>
                </a:solidFill>
                <a:latin typeface="TT Fors"/>
                <a:ea typeface="TT Fors"/>
                <a:cs typeface="TT Fors"/>
                <a:sym typeface="TT Fors"/>
              </a:rPr>
              <a:t>Captures important words and short expressions.</a:t>
            </a:r>
          </a:p>
          <a:p>
            <a:pPr algn="l">
              <a:lnSpc>
                <a:spcPts val="3919"/>
              </a:lnSpc>
            </a:pP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64FFDA"/>
                </a:solidFill>
                <a:latin typeface="TT Fors"/>
                <a:ea typeface="TT Fors"/>
                <a:cs typeface="TT Fors"/>
                <a:sym typeface="TT Fors"/>
              </a:rPr>
              <a:t>20,000 max features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-3550833">
            <a:off x="14451911" y="6083866"/>
            <a:ext cx="5545500" cy="712916"/>
            <a:chOff x="0" y="0"/>
            <a:chExt cx="617254" cy="793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7254" cy="79353"/>
            </a:xfrm>
            <a:custGeom>
              <a:avLst/>
              <a:gdLst/>
              <a:ahLst/>
              <a:cxnLst/>
              <a:rect r="r" b="b" t="t" l="l"/>
              <a:pathLst>
                <a:path h="79353" w="617254">
                  <a:moveTo>
                    <a:pt x="0" y="0"/>
                  </a:moveTo>
                  <a:lnTo>
                    <a:pt x="617254" y="0"/>
                  </a:lnTo>
                  <a:lnTo>
                    <a:pt x="617254" y="79353"/>
                  </a:lnTo>
                  <a:lnTo>
                    <a:pt x="0" y="79353"/>
                  </a:lnTo>
                  <a:close/>
                </a:path>
              </a:pathLst>
            </a:custGeom>
            <a:solidFill>
              <a:srgbClr val="64FFD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17254" cy="117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4127" y="8502367"/>
            <a:ext cx="18288000" cy="2504976"/>
            <a:chOff x="0" y="0"/>
            <a:chExt cx="2035585" cy="2788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5585" cy="278822"/>
            </a:xfrm>
            <a:custGeom>
              <a:avLst/>
              <a:gdLst/>
              <a:ahLst/>
              <a:cxnLst/>
              <a:rect r="r" b="b" t="t" l="l"/>
              <a:pathLst>
                <a:path h="278822" w="2035585">
                  <a:moveTo>
                    <a:pt x="0" y="0"/>
                  </a:moveTo>
                  <a:lnTo>
                    <a:pt x="2035585" y="0"/>
                  </a:lnTo>
                  <a:lnTo>
                    <a:pt x="2035585" y="278822"/>
                  </a:lnTo>
                  <a:lnTo>
                    <a:pt x="0" y="278822"/>
                  </a:lnTo>
                  <a:close/>
                </a:path>
              </a:pathLst>
            </a:custGeom>
            <a:solidFill>
              <a:srgbClr val="64FFD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35585" cy="31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3550833">
            <a:off x="9990962" y="4132787"/>
            <a:ext cx="13164261" cy="2688210"/>
            <a:chOff x="0" y="0"/>
            <a:chExt cx="1465276" cy="2992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5276" cy="299217"/>
            </a:xfrm>
            <a:custGeom>
              <a:avLst/>
              <a:gdLst/>
              <a:ahLst/>
              <a:cxnLst/>
              <a:rect r="r" b="b" t="t" l="l"/>
              <a:pathLst>
                <a:path h="299217" w="1465276">
                  <a:moveTo>
                    <a:pt x="0" y="0"/>
                  </a:moveTo>
                  <a:lnTo>
                    <a:pt x="1465276" y="0"/>
                  </a:lnTo>
                  <a:lnTo>
                    <a:pt x="1465276" y="299217"/>
                  </a:lnTo>
                  <a:lnTo>
                    <a:pt x="0" y="299217"/>
                  </a:lnTo>
                  <a:close/>
                </a:path>
              </a:pathLst>
            </a:custGeom>
            <a:solidFill>
              <a:srgbClr val="061D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65276" cy="337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8555127"/>
            <a:ext cx="18288000" cy="2504976"/>
            <a:chOff x="0" y="0"/>
            <a:chExt cx="2035585" cy="2788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35585" cy="278822"/>
            </a:xfrm>
            <a:custGeom>
              <a:avLst/>
              <a:gdLst/>
              <a:ahLst/>
              <a:cxnLst/>
              <a:rect r="r" b="b" t="t" l="l"/>
              <a:pathLst>
                <a:path h="278822" w="2035585">
                  <a:moveTo>
                    <a:pt x="0" y="0"/>
                  </a:moveTo>
                  <a:lnTo>
                    <a:pt x="2035585" y="0"/>
                  </a:lnTo>
                  <a:lnTo>
                    <a:pt x="2035585" y="278822"/>
                  </a:lnTo>
                  <a:lnTo>
                    <a:pt x="0" y="278822"/>
                  </a:lnTo>
                  <a:close/>
                </a:path>
              </a:pathLst>
            </a:custGeom>
            <a:solidFill>
              <a:srgbClr val="061D4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35585" cy="31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8100000">
            <a:off x="-1805321" y="7844416"/>
            <a:ext cx="3238136" cy="1762223"/>
            <a:chOff x="0" y="0"/>
            <a:chExt cx="360428" cy="1961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0428" cy="196148"/>
            </a:xfrm>
            <a:custGeom>
              <a:avLst/>
              <a:gdLst/>
              <a:ahLst/>
              <a:cxnLst/>
              <a:rect r="r" b="b" t="t" l="l"/>
              <a:pathLst>
                <a:path h="196148" w="360428">
                  <a:moveTo>
                    <a:pt x="0" y="0"/>
                  </a:moveTo>
                  <a:lnTo>
                    <a:pt x="360428" y="0"/>
                  </a:lnTo>
                  <a:lnTo>
                    <a:pt x="360428" y="196148"/>
                  </a:lnTo>
                  <a:lnTo>
                    <a:pt x="0" y="196148"/>
                  </a:lnTo>
                  <a:close/>
                </a:path>
              </a:pathLst>
            </a:custGeom>
            <a:solidFill>
              <a:srgbClr val="061D4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60428" cy="234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120140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</a:t>
            </a:r>
            <a:r>
              <a:rPr lang="en-US" sz="8000" spc="-240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</a:t>
            </a:r>
            <a:r>
              <a:rPr lang="en-US" sz="8000" spc="-240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ls</a:t>
            </a:r>
            <a:r>
              <a:rPr lang="en-US" sz="8000" spc="-240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Te</a:t>
            </a:r>
            <a:r>
              <a:rPr lang="en-US" sz="8000" spc="-240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st</a:t>
            </a:r>
            <a:r>
              <a:rPr lang="en-US" sz="8000" spc="-240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</a:t>
            </a:r>
            <a:r>
              <a:rPr lang="en-US" sz="8000" spc="-240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3209898"/>
            <a:ext cx="9519168" cy="444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64FFDA"/>
                </a:solidFill>
                <a:latin typeface="TT Fors"/>
                <a:ea typeface="TT Fors"/>
                <a:cs typeface="TT Fors"/>
                <a:sym typeface="TT Fors"/>
              </a:rPr>
              <a:t>Logistic Regression</a:t>
            </a:r>
          </a:p>
          <a:p>
            <a:pPr algn="l">
              <a:lnSpc>
                <a:spcPts val="3919"/>
              </a:lnSpc>
            </a:pP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64FFDA"/>
                </a:solidFill>
                <a:latin typeface="TT Fors"/>
                <a:ea typeface="TT Fors"/>
                <a:cs typeface="TT Fors"/>
                <a:sym typeface="TT Fors"/>
              </a:rPr>
              <a:t>Linear SVC</a:t>
            </a:r>
          </a:p>
          <a:p>
            <a:pPr algn="l">
              <a:lnSpc>
                <a:spcPts val="3919"/>
              </a:lnSpc>
            </a:pP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64FFDA"/>
                </a:solidFill>
                <a:latin typeface="TT Fors"/>
                <a:ea typeface="TT Fors"/>
                <a:cs typeface="TT Fors"/>
                <a:sym typeface="TT Fors"/>
              </a:rPr>
              <a:t>Multinomial Naive Bayes</a:t>
            </a:r>
          </a:p>
          <a:p>
            <a:pPr algn="l">
              <a:lnSpc>
                <a:spcPts val="3919"/>
              </a:lnSpc>
            </a:pP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64FFDA"/>
                </a:solidFill>
                <a:latin typeface="TT Fors"/>
                <a:ea typeface="TT Fors"/>
                <a:cs typeface="TT Fors"/>
                <a:sym typeface="TT Fors"/>
              </a:rPr>
              <a:t>Random Forest</a:t>
            </a:r>
          </a:p>
          <a:p>
            <a:pPr algn="l">
              <a:lnSpc>
                <a:spcPts val="3919"/>
              </a:lnSpc>
            </a:pP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64FFDA"/>
                </a:solidFill>
                <a:latin typeface="TT Fors"/>
                <a:ea typeface="TT Fors"/>
                <a:cs typeface="TT Fors"/>
                <a:sym typeface="TT Fors"/>
              </a:rPr>
              <a:t>RandomizedSearchCV for tuning.</a:t>
            </a:r>
          </a:p>
        </p:txBody>
      </p:sp>
      <p:grpSp>
        <p:nvGrpSpPr>
          <p:cNvPr name="Group 4" id="4"/>
          <p:cNvGrpSpPr/>
          <p:nvPr/>
        </p:nvGrpSpPr>
        <p:grpSpPr>
          <a:xfrm rot="-3550833">
            <a:off x="14451911" y="6083866"/>
            <a:ext cx="5545500" cy="712916"/>
            <a:chOff x="0" y="0"/>
            <a:chExt cx="617254" cy="793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7254" cy="79353"/>
            </a:xfrm>
            <a:custGeom>
              <a:avLst/>
              <a:gdLst/>
              <a:ahLst/>
              <a:cxnLst/>
              <a:rect r="r" b="b" t="t" l="l"/>
              <a:pathLst>
                <a:path h="79353" w="617254">
                  <a:moveTo>
                    <a:pt x="0" y="0"/>
                  </a:moveTo>
                  <a:lnTo>
                    <a:pt x="617254" y="0"/>
                  </a:lnTo>
                  <a:lnTo>
                    <a:pt x="617254" y="79353"/>
                  </a:lnTo>
                  <a:lnTo>
                    <a:pt x="0" y="79353"/>
                  </a:lnTo>
                  <a:close/>
                </a:path>
              </a:pathLst>
            </a:custGeom>
            <a:solidFill>
              <a:srgbClr val="64FFD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17254" cy="117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4127" y="8502367"/>
            <a:ext cx="18288000" cy="2504976"/>
            <a:chOff x="0" y="0"/>
            <a:chExt cx="2035585" cy="2788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5585" cy="278822"/>
            </a:xfrm>
            <a:custGeom>
              <a:avLst/>
              <a:gdLst/>
              <a:ahLst/>
              <a:cxnLst/>
              <a:rect r="r" b="b" t="t" l="l"/>
              <a:pathLst>
                <a:path h="278822" w="2035585">
                  <a:moveTo>
                    <a:pt x="0" y="0"/>
                  </a:moveTo>
                  <a:lnTo>
                    <a:pt x="2035585" y="0"/>
                  </a:lnTo>
                  <a:lnTo>
                    <a:pt x="2035585" y="278822"/>
                  </a:lnTo>
                  <a:lnTo>
                    <a:pt x="0" y="278822"/>
                  </a:lnTo>
                  <a:close/>
                </a:path>
              </a:pathLst>
            </a:custGeom>
            <a:solidFill>
              <a:srgbClr val="64FFD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35585" cy="31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3550833">
            <a:off x="9990962" y="4132787"/>
            <a:ext cx="13164261" cy="2688210"/>
            <a:chOff x="0" y="0"/>
            <a:chExt cx="1465276" cy="2992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5276" cy="299217"/>
            </a:xfrm>
            <a:custGeom>
              <a:avLst/>
              <a:gdLst/>
              <a:ahLst/>
              <a:cxnLst/>
              <a:rect r="r" b="b" t="t" l="l"/>
              <a:pathLst>
                <a:path h="299217" w="1465276">
                  <a:moveTo>
                    <a:pt x="0" y="0"/>
                  </a:moveTo>
                  <a:lnTo>
                    <a:pt x="1465276" y="0"/>
                  </a:lnTo>
                  <a:lnTo>
                    <a:pt x="1465276" y="299217"/>
                  </a:lnTo>
                  <a:lnTo>
                    <a:pt x="0" y="299217"/>
                  </a:lnTo>
                  <a:close/>
                </a:path>
              </a:pathLst>
            </a:custGeom>
            <a:solidFill>
              <a:srgbClr val="061D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65276" cy="337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8555127"/>
            <a:ext cx="18288000" cy="2504976"/>
            <a:chOff x="0" y="0"/>
            <a:chExt cx="2035585" cy="2788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35585" cy="278822"/>
            </a:xfrm>
            <a:custGeom>
              <a:avLst/>
              <a:gdLst/>
              <a:ahLst/>
              <a:cxnLst/>
              <a:rect r="r" b="b" t="t" l="l"/>
              <a:pathLst>
                <a:path h="278822" w="2035585">
                  <a:moveTo>
                    <a:pt x="0" y="0"/>
                  </a:moveTo>
                  <a:lnTo>
                    <a:pt x="2035585" y="0"/>
                  </a:lnTo>
                  <a:lnTo>
                    <a:pt x="2035585" y="278822"/>
                  </a:lnTo>
                  <a:lnTo>
                    <a:pt x="0" y="278822"/>
                  </a:lnTo>
                  <a:close/>
                </a:path>
              </a:pathLst>
            </a:custGeom>
            <a:solidFill>
              <a:srgbClr val="061D4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35585" cy="31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8100000">
            <a:off x="-1805321" y="7844416"/>
            <a:ext cx="3238136" cy="1762223"/>
            <a:chOff x="0" y="0"/>
            <a:chExt cx="360428" cy="1961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0428" cy="196148"/>
            </a:xfrm>
            <a:custGeom>
              <a:avLst/>
              <a:gdLst/>
              <a:ahLst/>
              <a:cxnLst/>
              <a:rect r="r" b="b" t="t" l="l"/>
              <a:pathLst>
                <a:path h="196148" w="360428">
                  <a:moveTo>
                    <a:pt x="0" y="0"/>
                  </a:moveTo>
                  <a:lnTo>
                    <a:pt x="360428" y="0"/>
                  </a:lnTo>
                  <a:lnTo>
                    <a:pt x="360428" y="196148"/>
                  </a:lnTo>
                  <a:lnTo>
                    <a:pt x="0" y="196148"/>
                  </a:lnTo>
                  <a:close/>
                </a:path>
              </a:pathLst>
            </a:custGeom>
            <a:solidFill>
              <a:srgbClr val="061D4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60428" cy="234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120140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</a:t>
            </a:r>
            <a:r>
              <a:rPr lang="en-US" sz="8000" spc="-240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el Comparis</a:t>
            </a:r>
            <a:r>
              <a:rPr lang="en-US" sz="8000" spc="-240" strike="noStrike" u="none">
                <a:solidFill>
                  <a:srgbClr val="64FFD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3115233"/>
            <a:ext cx="9519168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64FFDA"/>
                </a:solidFill>
                <a:latin typeface="TT Fors"/>
                <a:ea typeface="TT Fors"/>
                <a:cs typeface="TT Fors"/>
                <a:sym typeface="TT Fors"/>
              </a:rPr>
              <a:t>Linear SVC: 94.69%.</a:t>
            </a:r>
          </a:p>
          <a:p>
            <a:pPr algn="l">
              <a:lnSpc>
                <a:spcPts val="3919"/>
              </a:lnSpc>
            </a:pP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64FFDA"/>
                </a:solidFill>
                <a:latin typeface="TT Fors"/>
                <a:ea typeface="TT Fors"/>
                <a:cs typeface="TT Fors"/>
                <a:sym typeface="TT Fors"/>
              </a:rPr>
              <a:t>Naive Bayes and Random Forest lower.</a:t>
            </a:r>
          </a:p>
          <a:p>
            <a:pPr algn="l">
              <a:lnSpc>
                <a:spcPts val="391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-3550833">
            <a:off x="14451911" y="6083866"/>
            <a:ext cx="5545500" cy="712916"/>
            <a:chOff x="0" y="0"/>
            <a:chExt cx="617254" cy="793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7254" cy="79353"/>
            </a:xfrm>
            <a:custGeom>
              <a:avLst/>
              <a:gdLst/>
              <a:ahLst/>
              <a:cxnLst/>
              <a:rect r="r" b="b" t="t" l="l"/>
              <a:pathLst>
                <a:path h="79353" w="617254">
                  <a:moveTo>
                    <a:pt x="0" y="0"/>
                  </a:moveTo>
                  <a:lnTo>
                    <a:pt x="617254" y="0"/>
                  </a:lnTo>
                  <a:lnTo>
                    <a:pt x="617254" y="79353"/>
                  </a:lnTo>
                  <a:lnTo>
                    <a:pt x="0" y="79353"/>
                  </a:lnTo>
                  <a:close/>
                </a:path>
              </a:pathLst>
            </a:custGeom>
            <a:solidFill>
              <a:srgbClr val="64FFD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17254" cy="117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4127" y="8502367"/>
            <a:ext cx="18288000" cy="2504976"/>
            <a:chOff x="0" y="0"/>
            <a:chExt cx="2035585" cy="2788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5585" cy="278822"/>
            </a:xfrm>
            <a:custGeom>
              <a:avLst/>
              <a:gdLst/>
              <a:ahLst/>
              <a:cxnLst/>
              <a:rect r="r" b="b" t="t" l="l"/>
              <a:pathLst>
                <a:path h="278822" w="2035585">
                  <a:moveTo>
                    <a:pt x="0" y="0"/>
                  </a:moveTo>
                  <a:lnTo>
                    <a:pt x="2035585" y="0"/>
                  </a:lnTo>
                  <a:lnTo>
                    <a:pt x="2035585" y="278822"/>
                  </a:lnTo>
                  <a:lnTo>
                    <a:pt x="0" y="278822"/>
                  </a:lnTo>
                  <a:close/>
                </a:path>
              </a:pathLst>
            </a:custGeom>
            <a:solidFill>
              <a:srgbClr val="64FFD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35585" cy="31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3550833">
            <a:off x="9990962" y="4132787"/>
            <a:ext cx="13164261" cy="2688210"/>
            <a:chOff x="0" y="0"/>
            <a:chExt cx="1465276" cy="2992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5276" cy="299217"/>
            </a:xfrm>
            <a:custGeom>
              <a:avLst/>
              <a:gdLst/>
              <a:ahLst/>
              <a:cxnLst/>
              <a:rect r="r" b="b" t="t" l="l"/>
              <a:pathLst>
                <a:path h="299217" w="1465276">
                  <a:moveTo>
                    <a:pt x="0" y="0"/>
                  </a:moveTo>
                  <a:lnTo>
                    <a:pt x="1465276" y="0"/>
                  </a:lnTo>
                  <a:lnTo>
                    <a:pt x="1465276" y="299217"/>
                  </a:lnTo>
                  <a:lnTo>
                    <a:pt x="0" y="299217"/>
                  </a:lnTo>
                  <a:close/>
                </a:path>
              </a:pathLst>
            </a:custGeom>
            <a:solidFill>
              <a:srgbClr val="061D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65276" cy="337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8555127"/>
            <a:ext cx="18288000" cy="2504976"/>
            <a:chOff x="0" y="0"/>
            <a:chExt cx="2035585" cy="2788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35585" cy="278822"/>
            </a:xfrm>
            <a:custGeom>
              <a:avLst/>
              <a:gdLst/>
              <a:ahLst/>
              <a:cxnLst/>
              <a:rect r="r" b="b" t="t" l="l"/>
              <a:pathLst>
                <a:path h="278822" w="2035585">
                  <a:moveTo>
                    <a:pt x="0" y="0"/>
                  </a:moveTo>
                  <a:lnTo>
                    <a:pt x="2035585" y="0"/>
                  </a:lnTo>
                  <a:lnTo>
                    <a:pt x="2035585" y="278822"/>
                  </a:lnTo>
                  <a:lnTo>
                    <a:pt x="0" y="278822"/>
                  </a:lnTo>
                  <a:close/>
                </a:path>
              </a:pathLst>
            </a:custGeom>
            <a:solidFill>
              <a:srgbClr val="061D4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35585" cy="31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8100000">
            <a:off x="-1805321" y="7844416"/>
            <a:ext cx="3238136" cy="1762223"/>
            <a:chOff x="0" y="0"/>
            <a:chExt cx="360428" cy="1961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0428" cy="196148"/>
            </a:xfrm>
            <a:custGeom>
              <a:avLst/>
              <a:gdLst/>
              <a:ahLst/>
              <a:cxnLst/>
              <a:rect r="r" b="b" t="t" l="l"/>
              <a:pathLst>
                <a:path h="196148" w="360428">
                  <a:moveTo>
                    <a:pt x="0" y="0"/>
                  </a:moveTo>
                  <a:lnTo>
                    <a:pt x="360428" y="0"/>
                  </a:lnTo>
                  <a:lnTo>
                    <a:pt x="360428" y="196148"/>
                  </a:lnTo>
                  <a:lnTo>
                    <a:pt x="0" y="196148"/>
                  </a:lnTo>
                  <a:close/>
                </a:path>
              </a:pathLst>
            </a:custGeom>
            <a:solidFill>
              <a:srgbClr val="061D4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60428" cy="234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485709" y="2576719"/>
            <a:ext cx="8279939" cy="5133562"/>
          </a:xfrm>
          <a:custGeom>
            <a:avLst/>
            <a:gdLst/>
            <a:ahLst/>
            <a:cxnLst/>
            <a:rect r="r" b="b" t="t" l="l"/>
            <a:pathLst>
              <a:path h="5133562" w="8279939">
                <a:moveTo>
                  <a:pt x="0" y="0"/>
                </a:moveTo>
                <a:lnTo>
                  <a:pt x="8279939" y="0"/>
                </a:lnTo>
                <a:lnTo>
                  <a:pt x="8279939" y="5133562"/>
                </a:lnTo>
                <a:lnTo>
                  <a:pt x="0" y="5133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50833">
            <a:off x="14451911" y="6083866"/>
            <a:ext cx="5545500" cy="712916"/>
            <a:chOff x="0" y="0"/>
            <a:chExt cx="617254" cy="793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7254" cy="79353"/>
            </a:xfrm>
            <a:custGeom>
              <a:avLst/>
              <a:gdLst/>
              <a:ahLst/>
              <a:cxnLst/>
              <a:rect r="r" b="b" t="t" l="l"/>
              <a:pathLst>
                <a:path h="79353" w="617254">
                  <a:moveTo>
                    <a:pt x="0" y="0"/>
                  </a:moveTo>
                  <a:lnTo>
                    <a:pt x="617254" y="0"/>
                  </a:lnTo>
                  <a:lnTo>
                    <a:pt x="617254" y="79353"/>
                  </a:lnTo>
                  <a:lnTo>
                    <a:pt x="0" y="79353"/>
                  </a:lnTo>
                  <a:close/>
                </a:path>
              </a:pathLst>
            </a:custGeom>
            <a:solidFill>
              <a:srgbClr val="64FFD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7254" cy="117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4127" y="8502367"/>
            <a:ext cx="18288000" cy="2504976"/>
            <a:chOff x="0" y="0"/>
            <a:chExt cx="2035585" cy="2788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5585" cy="278822"/>
            </a:xfrm>
            <a:custGeom>
              <a:avLst/>
              <a:gdLst/>
              <a:ahLst/>
              <a:cxnLst/>
              <a:rect r="r" b="b" t="t" l="l"/>
              <a:pathLst>
                <a:path h="278822" w="2035585">
                  <a:moveTo>
                    <a:pt x="0" y="0"/>
                  </a:moveTo>
                  <a:lnTo>
                    <a:pt x="2035585" y="0"/>
                  </a:lnTo>
                  <a:lnTo>
                    <a:pt x="2035585" y="278822"/>
                  </a:lnTo>
                  <a:lnTo>
                    <a:pt x="0" y="278822"/>
                  </a:lnTo>
                  <a:close/>
                </a:path>
              </a:pathLst>
            </a:custGeom>
            <a:solidFill>
              <a:srgbClr val="64FFD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35585" cy="31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3550833">
            <a:off x="9990962" y="4132787"/>
            <a:ext cx="13164261" cy="2688210"/>
            <a:chOff x="0" y="0"/>
            <a:chExt cx="1465276" cy="2992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5276" cy="299217"/>
            </a:xfrm>
            <a:custGeom>
              <a:avLst/>
              <a:gdLst/>
              <a:ahLst/>
              <a:cxnLst/>
              <a:rect r="r" b="b" t="t" l="l"/>
              <a:pathLst>
                <a:path h="299217" w="1465276">
                  <a:moveTo>
                    <a:pt x="0" y="0"/>
                  </a:moveTo>
                  <a:lnTo>
                    <a:pt x="1465276" y="0"/>
                  </a:lnTo>
                  <a:lnTo>
                    <a:pt x="1465276" y="299217"/>
                  </a:lnTo>
                  <a:lnTo>
                    <a:pt x="0" y="299217"/>
                  </a:lnTo>
                  <a:close/>
                </a:path>
              </a:pathLst>
            </a:custGeom>
            <a:solidFill>
              <a:srgbClr val="061D4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65276" cy="337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8555127"/>
            <a:ext cx="18288000" cy="2504976"/>
            <a:chOff x="0" y="0"/>
            <a:chExt cx="2035585" cy="2788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5585" cy="278822"/>
            </a:xfrm>
            <a:custGeom>
              <a:avLst/>
              <a:gdLst/>
              <a:ahLst/>
              <a:cxnLst/>
              <a:rect r="r" b="b" t="t" l="l"/>
              <a:pathLst>
                <a:path h="278822" w="2035585">
                  <a:moveTo>
                    <a:pt x="0" y="0"/>
                  </a:moveTo>
                  <a:lnTo>
                    <a:pt x="2035585" y="0"/>
                  </a:lnTo>
                  <a:lnTo>
                    <a:pt x="2035585" y="278822"/>
                  </a:lnTo>
                  <a:lnTo>
                    <a:pt x="0" y="278822"/>
                  </a:lnTo>
                  <a:close/>
                </a:path>
              </a:pathLst>
            </a:custGeom>
            <a:solidFill>
              <a:srgbClr val="061D4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35585" cy="31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8100000">
            <a:off x="-1805321" y="7844416"/>
            <a:ext cx="3238136" cy="1762223"/>
            <a:chOff x="0" y="0"/>
            <a:chExt cx="360428" cy="1961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0428" cy="196148"/>
            </a:xfrm>
            <a:custGeom>
              <a:avLst/>
              <a:gdLst/>
              <a:ahLst/>
              <a:cxnLst/>
              <a:rect r="r" b="b" t="t" l="l"/>
              <a:pathLst>
                <a:path h="196148" w="360428">
                  <a:moveTo>
                    <a:pt x="0" y="0"/>
                  </a:moveTo>
                  <a:lnTo>
                    <a:pt x="360428" y="0"/>
                  </a:lnTo>
                  <a:lnTo>
                    <a:pt x="360428" y="196148"/>
                  </a:lnTo>
                  <a:lnTo>
                    <a:pt x="0" y="196148"/>
                  </a:lnTo>
                  <a:close/>
                </a:path>
              </a:pathLst>
            </a:custGeom>
            <a:solidFill>
              <a:srgbClr val="061D4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60428" cy="234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442393" y="695308"/>
            <a:ext cx="13403215" cy="8896384"/>
          </a:xfrm>
          <a:custGeom>
            <a:avLst/>
            <a:gdLst/>
            <a:ahLst/>
            <a:cxnLst/>
            <a:rect r="r" b="b" t="t" l="l"/>
            <a:pathLst>
              <a:path h="8896384" w="13403215">
                <a:moveTo>
                  <a:pt x="0" y="0"/>
                </a:moveTo>
                <a:lnTo>
                  <a:pt x="13403214" y="0"/>
                </a:lnTo>
                <a:lnTo>
                  <a:pt x="13403214" y="8896384"/>
                </a:lnTo>
                <a:lnTo>
                  <a:pt x="0" y="8896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0"/>
            <a:ext cx="7858125" cy="10287000"/>
            <a:chOff x="0" y="0"/>
            <a:chExt cx="1764443" cy="23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4443" cy="2309817"/>
            </a:xfrm>
            <a:custGeom>
              <a:avLst/>
              <a:gdLst/>
              <a:ahLst/>
              <a:cxnLst/>
              <a:rect r="r" b="b" t="t" l="l"/>
              <a:pathLst>
                <a:path h="2309817" w="1764443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2"/>
              <a:stretch>
                <a:fillRect l="0" t="-255" r="0" b="-2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2162175"/>
            <a:chOff x="0" y="0"/>
            <a:chExt cx="11099800" cy="28829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0998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64FFD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Thank You!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168525"/>
              <a:ext cx="11068284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DAG5Jn69Wqc</dc:identifier>
  <dcterms:modified xsi:type="dcterms:W3CDTF">2011-08-01T06:04:30Z</dcterms:modified>
  <cp:revision>1</cp:revision>
  <dc:title>Baseline Models</dc:title>
</cp:coreProperties>
</file>